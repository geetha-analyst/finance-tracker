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5" r:id="rId10"/>
    <p:sldId id="264" r:id="rId11"/>
    <p:sldId id="263" r:id="rId12"/>
    <p:sldId id="265" r:id="rId13"/>
    <p:sldId id="270" r:id="rId14"/>
    <p:sldId id="271" r:id="rId15"/>
    <p:sldId id="272" r:id="rId16"/>
    <p:sldId id="274" r:id="rId17"/>
    <p:sldId id="276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32686-3F4C-4423-B754-8CBA0A2D3517}" v="214" dt="2026-07-19T14:40:23.966"/>
    <p1510:client id="{93A83915-E5F3-44FA-A86F-2DA96E648373}" v="6" dt="2026-07-18T10:52:17.942"/>
    <p1510:client id="{B2726351-4218-4002-A425-710F0A52F487}" v="37" dt="2026-07-18T10:47:26.885"/>
    <p1510:client id="{B8BBE1AB-5743-474F-B4A1-6FC3A36CB7EF}" v="512" dt="2026-07-19T19:45:22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72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49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0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5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44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604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99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7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27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6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5348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119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7420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41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019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4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65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816706"/>
            <a:ext cx="7766936" cy="1922073"/>
          </a:xfrm>
        </p:spPr>
        <p:txBody>
          <a:bodyPr/>
          <a:lstStyle/>
          <a:p>
            <a:r>
              <a:rPr lang="en-US" sz="6000"/>
              <a:t>Finance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3835" y="4039809"/>
            <a:ext cx="6748159" cy="19328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Prepared By : Pranav and Geetha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Enrollment </a:t>
            </a:r>
            <a:r>
              <a:rPr 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No: EN</a:t>
            </a:r>
            <a:r>
              <a:rPr lang="en-US" sz="24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12027098860</a:t>
            </a:r>
          </a:p>
          <a:p>
            <a:r>
              <a:rPr 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Enrollment No: EN12027097079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Batch code: DA804S80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CFF43-89FB-F659-A768-55DFA5D6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/>
              <a:t>    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F02AB-A771-30A7-AE5A-19E046F1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081" y="1934028"/>
            <a:ext cx="10018713" cy="34943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 Finance Tracker is a Python application that helps users: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Record income 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Record expenses 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Store data in CSV files 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Generate financial reports 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Track monthly spending</a:t>
            </a:r>
            <a:endParaRPr lang="en-US">
              <a:latin typeface="Arial"/>
              <a:ea typeface="STXinwei"/>
              <a:cs typeface="Arial"/>
            </a:endParaRPr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00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77B5-1B92-E8E7-EE12-13441D98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/>
              <a:t>OBJECTIVES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B3053-F4C8-8C01-2027-22270FC1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163" y="1492932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Record income and expenses. </a:t>
            </a:r>
            <a:endParaRPr lang="en-US" b="1" dirty="0"/>
          </a:p>
          <a:p>
            <a:r>
              <a:rPr lang="en-US">
                <a:ea typeface="+mn-lt"/>
                <a:cs typeface="+mn-lt"/>
              </a:rPr>
              <a:t>Store transactions in CSV files.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Edit and </a:t>
            </a:r>
            <a:r>
              <a:rPr lang="en-US">
                <a:latin typeface="Arial"/>
                <a:ea typeface="+mn-lt"/>
                <a:cs typeface="Arial"/>
              </a:rPr>
              <a:t>delete</a:t>
            </a:r>
            <a:r>
              <a:rPr lang="en-US">
                <a:ea typeface="+mn-lt"/>
                <a:cs typeface="+mn-lt"/>
              </a:rPr>
              <a:t> transactions.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Generate monthly reports.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Generate category-wise reports.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Calculate income, expenses, and balance.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Apply Python programming concepts. </a:t>
            </a:r>
            <a:endParaRPr lang="en-US"/>
          </a:p>
          <a:p>
            <a:endParaRPr lang="en-US" b="1" dirty="0"/>
          </a:p>
          <a:p>
            <a:pPr>
              <a:buClr>
                <a:srgbClr val="90C22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5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2D3F-AF9A-E430-6A75-838B4FD9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74058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C863B-C74E-35F7-4360-64D8B7D5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105" y="1355046"/>
            <a:ext cx="8596668" cy="519431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endParaRPr lang="en-US" b="1" dirty="0"/>
          </a:p>
          <a:p>
            <a:r>
              <a:rPr lang="en-US">
                <a:ea typeface="+mn-lt"/>
                <a:cs typeface="+mn-lt"/>
              </a:rPr>
              <a:t>Python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Pandas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NumPy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CSV Files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File Handling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Functions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Dictionaries </a:t>
            </a:r>
            <a:endParaRPr lang="en-US"/>
          </a:p>
          <a:p>
            <a:r>
              <a:rPr lang="en-US"/>
              <a:t>Classes(Budget class)</a:t>
            </a:r>
            <a:endParaRPr lang="en-US" dirty="0"/>
          </a:p>
          <a:p>
            <a:r>
              <a:rPr lang="en-US" dirty="0"/>
              <a:t>Exce</a:t>
            </a:r>
            <a:r>
              <a:rPr lang="en-US"/>
              <a:t>ption Handling</a:t>
            </a:r>
            <a:endParaRPr lang="en-US" dirty="0"/>
          </a:p>
          <a:p>
            <a:r>
              <a:rPr lang="en-US"/>
              <a:t>Lists</a:t>
            </a:r>
            <a:endParaRPr lang="en-US" dirty="0"/>
          </a:p>
          <a:p>
            <a:r>
              <a:rPr lang="en-US"/>
              <a:t>Loops</a:t>
            </a:r>
            <a:endParaRPr lang="en-US" dirty="0"/>
          </a:p>
          <a:p>
            <a:r>
              <a:rPr lang="en-US"/>
              <a:t>Conditional Statements</a:t>
            </a:r>
            <a:endParaRPr lang="en-US" dirty="0"/>
          </a:p>
          <a:p>
            <a:r>
              <a:rPr lang="en-US"/>
              <a:t>CSV module</a:t>
            </a:r>
            <a:endParaRPr lang="en-US" dirty="0"/>
          </a:p>
          <a:p>
            <a:r>
              <a:rPr lang="en-US"/>
              <a:t>Text file</a:t>
            </a:r>
            <a:endParaRPr lang="en-US" dirty="0"/>
          </a:p>
          <a:p>
            <a:r>
              <a:rPr lang="en-US" dirty="0" err="1"/>
              <a:t>Groq</a:t>
            </a:r>
            <a:r>
              <a:rPr lang="en-US" dirty="0"/>
              <a:t> AI Integration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23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20BA-960B-3500-391E-86959AC7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/>
              <a:t>NumPy Statistics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2A29A-405B-80CC-C7DC-E0F649A72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677" y="1267960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NumPy is used to cal</a:t>
            </a:r>
            <a:r>
              <a:rPr lang="en-US">
                <a:ea typeface="+mn-lt"/>
                <a:cs typeface="+mn-lt"/>
              </a:rPr>
              <a:t>culate: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Mean Expense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Mean Income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Maximum Expense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Minimum Expense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Median Expense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Standard Deviation of Expenses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5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64D5-5D58-7138-ACAA-16EEDF33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Testing &amp;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41C68-5E6D-9DA4-AD4F-406A1E03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4" y="1289732"/>
            <a:ext cx="8596668" cy="48387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 b="1" dirty="0"/>
          </a:p>
          <a:p>
            <a:r>
              <a:rPr lang="en-US">
                <a:ea typeface="+mn-lt"/>
                <a:cs typeface="+mn-lt"/>
              </a:rPr>
              <a:t>Test Cases: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Invalid Date</a:t>
            </a:r>
          </a:p>
          <a:p>
            <a:r>
              <a:rPr lang="en-US"/>
              <a:t>Invalid transaction typ</a:t>
            </a:r>
            <a:r>
              <a:rPr lang="en-US" dirty="0"/>
              <a:t>e</a:t>
            </a:r>
          </a:p>
          <a:p>
            <a:r>
              <a:rPr lang="en-US"/>
              <a:t>Invalid category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Invalid month format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Inva</a:t>
            </a:r>
            <a:r>
              <a:rPr lang="en-US">
                <a:ea typeface="+mn-lt"/>
                <a:cs typeface="+mn-lt"/>
              </a:rPr>
              <a:t>lid numeric input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Empty Input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Empty transaction list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Non-existent transaction </a:t>
            </a:r>
            <a:r>
              <a:rPr lang="en-US">
                <a:ea typeface="+mn-lt"/>
                <a:cs typeface="+mn-lt"/>
              </a:rPr>
              <a:t>deletion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Negative Amount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Large Amount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Invalid Menu Choice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CSV File Missing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7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3933-1040-C470-C57F-94B39EEA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7886"/>
            <a:ext cx="8596668" cy="595086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ea typeface="+mj-lt"/>
                <a:cs typeface="+mj-lt"/>
              </a:rPr>
              <a:t>Functions Used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B0BDA8-64C5-B79D-9487-BCB72089E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52704"/>
            <a:ext cx="8596668" cy="611597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Main menu</a:t>
            </a:r>
          </a:p>
          <a:p>
            <a:r>
              <a:rPr lang="en-US" sz="1600" b="1" dirty="0" err="1">
                <a:ea typeface="+mn-lt"/>
                <a:cs typeface="+mn-lt"/>
              </a:rPr>
              <a:t>welcome_menu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main_menu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transactions_menu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add_transaction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view_transactions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edit_transaction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delete_transaction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category_report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monthly_report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income_vs_expense_report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save_csv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load_csv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budgets_menu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reports_menu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search_transaction</a:t>
            </a:r>
            <a:r>
              <a:rPr lang="en-US" sz="1600" b="1" dirty="0">
                <a:ea typeface="+mn-lt"/>
                <a:cs typeface="+mn-lt"/>
              </a:rPr>
              <a:t>() (if present)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set_budget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get_budget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remaining_budget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 dirty="0" err="1">
                <a:ea typeface="+mn-lt"/>
                <a:cs typeface="+mn-lt"/>
              </a:rPr>
              <a:t>numpy_statistics</a:t>
            </a:r>
            <a:r>
              <a:rPr lang="en-US" sz="1600" b="1" dirty="0">
                <a:ea typeface="+mn-lt"/>
                <a:cs typeface="+mn-lt"/>
              </a:rPr>
              <a:t>()</a:t>
            </a:r>
            <a:endParaRPr lang="en-US" sz="1600" b="1"/>
          </a:p>
          <a:p>
            <a:r>
              <a:rPr lang="en-US" sz="1600" b="1">
                <a:ea typeface="+mn-lt"/>
                <a:cs typeface="+mn-lt"/>
              </a:rPr>
              <a:t>AI advisor function()</a:t>
            </a:r>
            <a:endParaRPr lang="en-US" sz="1600" b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835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E1F80-E6F4-BB5F-CE4A-B1BB546B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Main Module (main.py)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A16CC-DDB5-3850-B4FC-8AF6184C9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7961"/>
            <a:ext cx="8596668" cy="51798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Acts as the entry point of the Personal Finance Tracker.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Imports all project modules: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Budget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Transactions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Reports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Manager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Loads previously saved transaction and budget </a:t>
            </a:r>
            <a:r>
              <a:rPr lang="en-US">
                <a:ea typeface="+mn-lt"/>
                <a:cs typeface="+mn-lt"/>
              </a:rPr>
              <a:t>data.</a:t>
            </a:r>
          </a:p>
          <a:p>
            <a:r>
              <a:rPr lang="en-US">
                <a:ea typeface="+mn-lt"/>
                <a:cs typeface="+mn-lt"/>
              </a:rPr>
              <a:t>Displays</a:t>
            </a:r>
            <a:r>
              <a:rPr lang="en-US" dirty="0">
                <a:ea typeface="+mn-lt"/>
                <a:cs typeface="+mn-lt"/>
              </a:rPr>
              <a:t> the Welcome Menu and Main Menu.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Controls navigation between Transactions, Budgets, and Reports modules.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Validates user input using try-except.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while loops for continuous menu execution.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Uses if-</a:t>
            </a:r>
            <a:r>
              <a:rPr lang="en-US" dirty="0" err="1">
                <a:ea typeface="+mn-lt"/>
                <a:cs typeface="+mn-lt"/>
              </a:rPr>
              <a:t>elif</a:t>
            </a:r>
            <a:r>
              <a:rPr lang="en-US" dirty="0">
                <a:ea typeface="+mn-lt"/>
                <a:cs typeface="+mn-lt"/>
              </a:rPr>
              <a:t>-else for menu selection.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Creates the Budget object using OOP concepts.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2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6B35CF-3434-4987-325D-1C7D71D16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939" y="12475"/>
            <a:ext cx="3481686" cy="6848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969F84-E355-318E-A405-C49D11F4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889" y="0"/>
            <a:ext cx="5393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0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546C-5A4C-6A52-2A82-4208FB63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52683-EEC7-C7EC-9253-28DEC259C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Manages all financial transactions (Income &amp; Expense).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</a:t>
            </a:r>
            <a:r>
              <a:rPr lang="en-US" b="1">
                <a:ea typeface="+mn-lt"/>
                <a:cs typeface="+mn-lt"/>
              </a:rPr>
              <a:t>functions</a:t>
            </a:r>
            <a:r>
              <a:rPr lang="en-US">
                <a:ea typeface="+mn-lt"/>
                <a:cs typeface="+mn-lt"/>
              </a:rPr>
              <a:t> for Add, View, Edit, and Delete operations.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Stores data using a </a:t>
            </a:r>
            <a:r>
              <a:rPr lang="en-US" b="1">
                <a:ea typeface="+mn-lt"/>
                <a:cs typeface="+mn-lt"/>
              </a:rPr>
              <a:t>list of dictionaries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Validates user input using </a:t>
            </a:r>
            <a:r>
              <a:rPr lang="en-US" b="1">
                <a:ea typeface="+mn-lt"/>
                <a:cs typeface="+mn-lt"/>
              </a:rPr>
              <a:t>try-except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</a:t>
            </a:r>
            <a:r>
              <a:rPr lang="en-US" b="1">
                <a:ea typeface="+mn-lt"/>
                <a:cs typeface="+mn-lt"/>
              </a:rPr>
              <a:t>while loops</a:t>
            </a:r>
            <a:r>
              <a:rPr lang="en-US">
                <a:ea typeface="+mn-lt"/>
                <a:cs typeface="+mn-lt"/>
              </a:rPr>
              <a:t> for continuous menu execution.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Uses </a:t>
            </a:r>
            <a:r>
              <a:rPr lang="en-US" b="1" dirty="0">
                <a:ea typeface="+mn-lt"/>
                <a:cs typeface="+mn-lt"/>
              </a:rPr>
              <a:t>if-</a:t>
            </a:r>
            <a:r>
              <a:rPr lang="en-US" b="1" dirty="0" err="1">
                <a:ea typeface="+mn-lt"/>
                <a:cs typeface="+mn-lt"/>
              </a:rPr>
              <a:t>elif</a:t>
            </a:r>
            <a:r>
              <a:rPr lang="en-US" b="1" dirty="0">
                <a:ea typeface="+mn-lt"/>
                <a:cs typeface="+mn-lt"/>
              </a:rPr>
              <a:t>-else</a:t>
            </a:r>
            <a:r>
              <a:rPr lang="en-US" dirty="0">
                <a:ea typeface="+mn-lt"/>
                <a:cs typeface="+mn-lt"/>
              </a:rPr>
              <a:t> for menu selection and validation.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Saves updated transactions to </a:t>
            </a:r>
            <a:r>
              <a:rPr lang="en-US" b="1">
                <a:ea typeface="+mn-lt"/>
                <a:cs typeface="+mn-lt"/>
              </a:rPr>
              <a:t>CSV</a:t>
            </a:r>
            <a:r>
              <a:rPr lang="en-US">
                <a:ea typeface="+mn-lt"/>
                <a:cs typeface="+mn-lt"/>
              </a:rPr>
              <a:t> using Pandas.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851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54FE-77C0-1E34-FF1B-47CF1941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4172"/>
            <a:ext cx="8596668" cy="1756228"/>
          </a:xfrm>
        </p:spPr>
        <p:txBody>
          <a:bodyPr/>
          <a:lstStyle/>
          <a:p>
            <a:pPr algn="ctr"/>
            <a:r>
              <a:rPr lang="en-US"/>
              <a:t>   TRANSACTIONS-OUTPUT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333F45-0730-BF3D-54F2-6D0CC8544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590" y="854302"/>
            <a:ext cx="3777012" cy="2465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3DF955-571D-B044-464B-9E4CDCF2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31" y="3538536"/>
            <a:ext cx="3654426" cy="30393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159E8E-C588-68D8-0CCD-11D6606A0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580" y="826406"/>
            <a:ext cx="3920670" cy="2491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700834-43DC-E89A-4AC3-C6E3F504B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1128" y="3538763"/>
            <a:ext cx="3748315" cy="3024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127866-F855-DE46-BFFB-115E7C773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186" y="862013"/>
            <a:ext cx="4205514" cy="2470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E49CF6-BD5F-872B-4606-5EF7EDB6CF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5967" y="3538765"/>
            <a:ext cx="4179209" cy="291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93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F98BC-4E93-32D8-FD47-C50D6776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BUDGET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69B4ED-7180-D6CE-CCAA-7CC96DB48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4640" y="1717903"/>
            <a:ext cx="4329769" cy="4265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CAEF34-42F8-6159-F85D-2F7603064FA2}"/>
              </a:ext>
            </a:extLst>
          </p:cNvPr>
          <p:cNvSpPr txBox="1"/>
          <p:nvPr/>
        </p:nvSpPr>
        <p:spPr>
          <a:xfrm>
            <a:off x="449943" y="2108200"/>
            <a:ext cx="50800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Budget Module</a:t>
            </a:r>
          </a:p>
          <a:p>
            <a:pPr>
              <a:buFont typeface=""/>
              <a:buChar char="•"/>
            </a:pPr>
            <a:r>
              <a:rPr lang="en-US"/>
              <a:t>Implements </a:t>
            </a:r>
            <a:r>
              <a:rPr lang="en-US" b="1"/>
              <a:t>Object-Oriented Programming (OOP)</a:t>
            </a:r>
            <a:r>
              <a:rPr lang="en-US"/>
              <a:t>. </a:t>
            </a:r>
          </a:p>
          <a:p>
            <a:pPr>
              <a:buFont typeface=""/>
              <a:buChar char="•"/>
            </a:pPr>
            <a:r>
              <a:rPr lang="en-US"/>
              <a:t>Uses a </a:t>
            </a:r>
            <a:r>
              <a:rPr lang="en-US" b="1"/>
              <a:t>Budget class</a:t>
            </a:r>
            <a:r>
              <a:rPr lang="en-US"/>
              <a:t> to manage monthly budgets. </a:t>
            </a:r>
          </a:p>
          <a:p>
            <a:pPr>
              <a:buFont typeface=""/>
              <a:buChar char="•"/>
            </a:pPr>
            <a:r>
              <a:rPr lang="en-US" dirty="0"/>
              <a:t>Uses </a:t>
            </a:r>
            <a:r>
              <a:rPr lang="en-US" b="1" dirty="0"/>
              <a:t>Constructor (__</a:t>
            </a:r>
            <a:r>
              <a:rPr lang="en-US" b="1" dirty="0" err="1"/>
              <a:t>init</a:t>
            </a:r>
            <a:r>
              <a:rPr lang="en-US" b="1" dirty="0"/>
              <a:t>__)</a:t>
            </a:r>
            <a:r>
              <a:rPr lang="en-US" dirty="0"/>
              <a:t> for initialization. </a:t>
            </a:r>
          </a:p>
          <a:p>
            <a:pPr>
              <a:buFont typeface=""/>
              <a:buChar char="•"/>
            </a:pPr>
            <a:r>
              <a:rPr lang="en-US"/>
              <a:t>Uses </a:t>
            </a:r>
            <a:r>
              <a:rPr lang="en-US" b="1"/>
              <a:t>Setter</a:t>
            </a:r>
            <a:r>
              <a:rPr lang="en-US"/>
              <a:t> method to set the budget. </a:t>
            </a:r>
          </a:p>
          <a:p>
            <a:pPr>
              <a:buFont typeface=""/>
              <a:buChar char="•"/>
            </a:pPr>
            <a:r>
              <a:rPr lang="en-US"/>
              <a:t>Uses </a:t>
            </a:r>
            <a:r>
              <a:rPr lang="en-US" b="1"/>
              <a:t>Getter</a:t>
            </a:r>
            <a:r>
              <a:rPr lang="en-US"/>
              <a:t> method to retrieve the budget. </a:t>
            </a:r>
          </a:p>
          <a:p>
            <a:pPr>
              <a:buFont typeface=""/>
              <a:buChar char="•"/>
            </a:pPr>
            <a:r>
              <a:rPr lang="en-US"/>
              <a:t>Calculates remaining budget after expenses. </a:t>
            </a:r>
          </a:p>
          <a:p>
            <a:pPr>
              <a:buFont typeface=""/>
              <a:buChar char="•"/>
            </a:pPr>
            <a:r>
              <a:rPr lang="en-US"/>
              <a:t>Displays budget status (Within Budget /                                 Exceeded Budget).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8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5DCD-A473-C8C6-87DB-068C227AE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BUDGET 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0A6B50-00E4-1E86-BDA4-EAD1D82DB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47" y="2089840"/>
            <a:ext cx="3771900" cy="3543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7AA8AB-6F31-2366-3BB2-173D29C54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623" y="1522186"/>
            <a:ext cx="3590925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E9FB7-D03E-B85B-DE1F-0C6CE6688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850" y="3098800"/>
            <a:ext cx="39243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7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15AA-6AA2-10A3-D968-DA12807C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REPORT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F0638F-0057-D685-BEFB-C8A95DE2C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6443" y="1267960"/>
            <a:ext cx="2908852" cy="3880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78E46D-088B-5632-6F95-19800C4E7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104" y="1270000"/>
            <a:ext cx="3481280" cy="38680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502A0D-3306-A8C8-C07A-9C62E01F5635}"/>
              </a:ext>
            </a:extLst>
          </p:cNvPr>
          <p:cNvSpPr txBox="1"/>
          <p:nvPr/>
        </p:nvSpPr>
        <p:spPr>
          <a:xfrm>
            <a:off x="326571" y="1491343"/>
            <a:ext cx="658222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Generates financial reports from stored </a:t>
            </a:r>
          </a:p>
          <a:p>
            <a:r>
              <a:rPr lang="en-US"/>
              <a:t>transactions.</a:t>
            </a:r>
          </a:p>
          <a:p>
            <a:endParaRPr lang="en-US"/>
          </a:p>
          <a:p>
            <a:pPr>
              <a:buFont typeface=""/>
              <a:buChar char="•"/>
            </a:pPr>
            <a:r>
              <a:rPr lang="en-US"/>
              <a:t>Monthly Report filters transactions by month. </a:t>
            </a:r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"/>
              <a:buChar char="•"/>
            </a:pPr>
            <a:r>
              <a:rPr lang="en-US"/>
              <a:t>Category Report groups expenses by category. </a:t>
            </a:r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"/>
              <a:buChar char="•"/>
            </a:pPr>
            <a:r>
              <a:rPr lang="en-US"/>
              <a:t>Income vs Expense Report calculates total income,</a:t>
            </a:r>
          </a:p>
          <a:p>
            <a:r>
              <a:rPr lang="en-US" dirty="0"/>
              <a:t> </a:t>
            </a:r>
            <a:r>
              <a:rPr lang="en-US"/>
              <a:t>expenses, and balance. </a:t>
            </a:r>
          </a:p>
          <a:p>
            <a:endParaRPr lang="en-US" dirty="0"/>
          </a:p>
          <a:p>
            <a:pPr>
              <a:buFont typeface=""/>
              <a:buChar char="•"/>
            </a:pPr>
            <a:r>
              <a:rPr lang="en-US"/>
              <a:t>Uses loops and dictionaries for report generation. </a:t>
            </a:r>
          </a:p>
          <a:p>
            <a:endParaRPr lang="en-US" dirty="0"/>
          </a:p>
          <a:p>
            <a:pPr>
              <a:buFont typeface=""/>
              <a:buChar char="•"/>
            </a:pPr>
            <a:r>
              <a:rPr lang="en-US"/>
              <a:t>Displays summarized financial information.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33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C9FB-62C1-A8C8-E90A-0817DB9B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REPORT -OUTPUT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AD3450-DCA0-4071-BDB6-0070452D9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107" y="1616303"/>
            <a:ext cx="3966150" cy="3880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F845DD-5F93-6AE0-1CF0-FE6A5326F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733" y="1617889"/>
            <a:ext cx="3800475" cy="4224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69D46-987C-7FDF-DFEC-98D0554A6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391" y="1614714"/>
            <a:ext cx="3800476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0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08D9-A9A3-2C8C-0F5B-5E2B502A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NumPy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78A5EA-11C5-CE47-E9C8-A084BABB5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803" y="1405847"/>
            <a:ext cx="8118357" cy="463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70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990B-DE6D-39C5-ECBD-66D5E46A5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2458"/>
          </a:xfrm>
        </p:spPr>
        <p:txBody>
          <a:bodyPr/>
          <a:lstStyle/>
          <a:p>
            <a:pPr algn="ctr"/>
            <a:r>
              <a:rPr lang="en-US" dirty="0"/>
              <a:t>AI Financial Advi</a:t>
            </a:r>
            <a:r>
              <a:rPr lang="en-US"/>
              <a:t>sor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967422-2E70-1B04-F91F-37874F24E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6989"/>
            <a:ext cx="8596668" cy="474437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Uses </a:t>
            </a:r>
            <a:r>
              <a:rPr lang="en-US" dirty="0" err="1"/>
              <a:t>Groq</a:t>
            </a:r>
            <a:r>
              <a:rPr lang="en-US" dirty="0"/>
              <a:t> API</a:t>
            </a:r>
          </a:p>
          <a:p>
            <a:r>
              <a:rPr lang="en-US" dirty="0"/>
              <a:t>Generates spending i</a:t>
            </a:r>
            <a:r>
              <a:rPr lang="en-US"/>
              <a:t>nsights</a:t>
            </a:r>
          </a:p>
          <a:p>
            <a:r>
              <a:rPr lang="en-US" dirty="0"/>
              <a:t>Gives budgeting </a:t>
            </a:r>
            <a:r>
              <a:rPr lang="en-US" dirty="0" err="1"/>
              <a:t>sugges</a:t>
            </a:r>
            <a:r>
              <a:rPr lang="en-US" dirty="0"/>
              <a:t>tions</a:t>
            </a:r>
          </a:p>
          <a:p>
            <a:r>
              <a:rPr lang="en-US" err="1"/>
              <a:t>Sugge</a:t>
            </a:r>
            <a:r>
              <a:rPr lang="en-US"/>
              <a:t>sts saving opportunities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38D4F-FDA5-2B18-8F4E-5015824B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55" b="137"/>
          <a:stretch>
            <a:fillRect/>
          </a:stretch>
        </p:blipFill>
        <p:spPr>
          <a:xfrm>
            <a:off x="5446259" y="1272268"/>
            <a:ext cx="4703094" cy="530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98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843E-8523-44DF-845F-C2264645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F1657-BB70-D6D6-6EBD-C72F9553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3104"/>
            <a:ext cx="8596668" cy="46210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Statistical Analysis of Profit &amp; Loss</a:t>
            </a:r>
            <a:endParaRPr lang="en-US" b="1" dirty="0"/>
          </a:p>
          <a:p>
            <a:r>
              <a:rPr lang="en-US" b="1">
                <a:ea typeface="+mn-lt"/>
                <a:cs typeface="+mn-lt"/>
              </a:rPr>
              <a:t>Key Statistics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Total Income: </a:t>
            </a:r>
            <a:r>
              <a:rPr lang="en-US" b="1">
                <a:ea typeface="+mn-lt"/>
                <a:cs typeface="+mn-lt"/>
              </a:rPr>
              <a:t>₹247,800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Total Expenses: </a:t>
            </a:r>
            <a:r>
              <a:rPr lang="en-US" b="1">
                <a:ea typeface="+mn-lt"/>
                <a:cs typeface="+mn-lt"/>
              </a:rPr>
              <a:t>₹65,507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Net Profit: </a:t>
            </a:r>
            <a:r>
              <a:rPr lang="en-US" b="1">
                <a:ea typeface="+mn-lt"/>
                <a:cs typeface="+mn-lt"/>
              </a:rPr>
              <a:t>₹182,293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Profit Margin: </a:t>
            </a:r>
            <a:r>
              <a:rPr lang="en-US" b="1">
                <a:ea typeface="+mn-lt"/>
                <a:cs typeface="+mn-lt"/>
              </a:rPr>
              <a:t>73.56%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Expense Ratio: </a:t>
            </a:r>
            <a:r>
              <a:rPr lang="en-US" b="1">
                <a:ea typeface="+mn-lt"/>
                <a:cs typeface="+mn-lt"/>
              </a:rPr>
              <a:t>26.44%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Interpretation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Finance Tracker generated a </a:t>
            </a:r>
            <a:r>
              <a:rPr lang="en-US" b="1">
                <a:ea typeface="+mn-lt"/>
                <a:cs typeface="+mn-lt"/>
              </a:rPr>
              <a:t>net profit of ₹182,293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Expenses account for </a:t>
            </a:r>
            <a:r>
              <a:rPr lang="en-US" b="1">
                <a:ea typeface="+mn-lt"/>
                <a:cs typeface="+mn-lt"/>
              </a:rPr>
              <a:t>26.44%</a:t>
            </a:r>
            <a:r>
              <a:rPr lang="en-US">
                <a:ea typeface="+mn-lt"/>
                <a:cs typeface="+mn-lt"/>
              </a:rPr>
              <a:t> of total income.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remaining </a:t>
            </a:r>
            <a:r>
              <a:rPr lang="en-US" b="1">
                <a:ea typeface="+mn-lt"/>
                <a:cs typeface="+mn-lt"/>
              </a:rPr>
              <a:t>73.56%</a:t>
            </a:r>
            <a:r>
              <a:rPr lang="en-US">
                <a:ea typeface="+mn-lt"/>
                <a:cs typeface="+mn-lt"/>
              </a:rPr>
              <a:t> represents the available profit, indicating healthy financial management.</a:t>
            </a:r>
            <a:endParaRPr lang="en-US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420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F6098-85FA-15FE-12B5-23FD6C75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77428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              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</a:t>
            </a:r>
            <a:r>
              <a:rPr lang="en-US" sz="4800"/>
              <a:t>     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85959-8C16-F217-2945-B87EEF07C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49" y="331790"/>
            <a:ext cx="8886953" cy="57095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4373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Facet</vt:lpstr>
      <vt:lpstr>Finance Tracker</vt:lpstr>
      <vt:lpstr>    INTRODUCTION</vt:lpstr>
      <vt:lpstr>OBJECTIVES</vt:lpstr>
      <vt:lpstr>TECHNOLOGIES USED</vt:lpstr>
      <vt:lpstr>NumPy Statistics</vt:lpstr>
      <vt:lpstr>Testing &amp; Debugging</vt:lpstr>
      <vt:lpstr>Functions Used</vt:lpstr>
      <vt:lpstr>Main Module (main.py)</vt:lpstr>
      <vt:lpstr>PowerPoint Presentation</vt:lpstr>
      <vt:lpstr>Transactions</vt:lpstr>
      <vt:lpstr>   TRANSACTIONS-OUTPUT</vt:lpstr>
      <vt:lpstr>BUDGET</vt:lpstr>
      <vt:lpstr>BUDGET OUTPUT</vt:lpstr>
      <vt:lpstr>REPORT</vt:lpstr>
      <vt:lpstr>REPORT -OUTPUT</vt:lpstr>
      <vt:lpstr>NumPy</vt:lpstr>
      <vt:lpstr>AI Financial Advisor</vt:lpstr>
      <vt:lpstr>Conclusion</vt:lpstr>
      <vt:lpstr>                      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475</cp:revision>
  <dcterms:created xsi:type="dcterms:W3CDTF">2026-07-17T12:33:41Z</dcterms:created>
  <dcterms:modified xsi:type="dcterms:W3CDTF">2026-07-19T19:45:55Z</dcterms:modified>
</cp:coreProperties>
</file>